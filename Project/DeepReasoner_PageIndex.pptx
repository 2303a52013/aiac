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2" y="10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91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09728" cy="5143500"/>
          </a:xfrm>
          <a:prstGeom prst="rect">
            <a:avLst/>
          </a:prstGeom>
          <a:solidFill>
            <a:srgbClr val="38BDF8">
              <a:alpha val="5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02A52"/>
          </a:solidFill>
          <a:ln w="12700">
            <a:solidFill>
              <a:srgbClr val="102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548640"/>
            <a:ext cx="1188720" cy="1188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365760"/>
            <a:ext cx="22860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65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B.TECH CSE PROJECT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" y="11734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 smtClean="0">
                <a:solidFill>
                  <a:schemeClr val="bg1"/>
                </a:solidFill>
              </a:rPr>
              <a:t>A </a:t>
            </a:r>
            <a:r>
              <a:rPr lang="en-US" sz="1600" dirty="0">
                <a:solidFill>
                  <a:schemeClr val="bg1"/>
                </a:solidFill>
              </a:rPr>
              <a:t>Context-Aware Multi-Page Reasoning System Using Hierarchical </a:t>
            </a:r>
            <a:r>
              <a:rPr lang="en-US" sz="1600" dirty="0" err="1">
                <a:solidFill>
                  <a:schemeClr val="bg1"/>
                </a:solidFill>
              </a:rPr>
              <a:t>PageIndex</a:t>
            </a:r>
            <a:r>
              <a:rPr lang="en-US" sz="1600" dirty="0">
                <a:solidFill>
                  <a:schemeClr val="bg1"/>
                </a:solidFill>
              </a:rPr>
              <a:t> Architecture for Efficient Knowledge Retrieval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" y="1691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31520" y="24871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Document Reasoning &amp; Contextual Q&amp;A System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520" y="2999232"/>
            <a:ext cx="64008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200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14600" y="32004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P.Thrishank</a:t>
            </a:r>
            <a:r>
              <a:rPr lang="en-US" sz="1100" dirty="0" smtClean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(2303A52013) |  </a:t>
            </a:r>
            <a:r>
              <a:rPr lang="en-US" sz="1100" dirty="0" err="1" smtClean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P.Lalith</a:t>
            </a:r>
            <a:r>
              <a:rPr lang="en-US" sz="1100" dirty="0" smtClean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(2303A52012) |  </a:t>
            </a:r>
            <a:r>
              <a:rPr lang="en-US" sz="1100" dirty="0" err="1" smtClean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B.Kowshik</a:t>
            </a:r>
            <a:r>
              <a:rPr lang="en-US" sz="1100" dirty="0" smtClean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Reddy(2303A52002) | </a:t>
            </a:r>
          </a:p>
          <a:p>
            <a:pPr marL="0" indent="0">
              <a:buNone/>
            </a:pPr>
            <a:r>
              <a:rPr lang="en-US" sz="1100" dirty="0" err="1" smtClean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V.Rohith</a:t>
            </a:r>
            <a:r>
              <a:rPr lang="en-US" sz="1100" dirty="0" smtClean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Reddy(2303A52215)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3520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514600" y="35204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Coding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3840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514600" y="38404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</a:t>
            </a:r>
            <a:r>
              <a:rPr lang="en-US" sz="1100" dirty="0" err="1" smtClean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Naresh</a:t>
            </a:r>
            <a:r>
              <a:rPr lang="en-US" sz="1100" dirty="0" smtClean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Kumar </a:t>
            </a:r>
            <a:r>
              <a:rPr lang="en-US" sz="1100" dirty="0" err="1" smtClean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Sripada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514600" y="41605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1520" y="4645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Department of 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CS&amp;AI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51560"/>
            <a:ext cx="3931920" cy="3566160"/>
          </a:xfrm>
          <a:prstGeom prst="rect">
            <a:avLst/>
          </a:prstGeom>
          <a:solidFill>
            <a:srgbClr val="F0F7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051560"/>
            <a:ext cx="39319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The Problem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536192"/>
            <a:ext cx="374904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struggle to reason over large, structured documents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Q&amp;A fails to understand document context &amp; hierarchy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indexing is underutilized in current AI pipelines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Retrieving accurate answers from multi-page PDFs is a major challenge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explainability in document-based AI responses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051560"/>
            <a:ext cx="4160520" cy="3566160"/>
          </a:xfrm>
          <a:prstGeom prst="rect">
            <a:avLst/>
          </a:prstGeom>
          <a:solidFill>
            <a:srgbClr val="F0F7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051560"/>
            <a:ext cx="41605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DeepReasoner Solution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0" y="1536192"/>
            <a:ext cx="393192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PageIndex: Assigns unique index to every document page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DeepReasoner: AI engine that reasons across indexed pages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LLM power with structured document navigation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precise, page-aware answers with source citations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web interface for seamless user interaction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78992"/>
            <a:ext cx="411480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21615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07008" y="12161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AI-Based Reasoning System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6276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reasoning engine that understands and navigates document structure using page-level indexing.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46320" y="1078992"/>
            <a:ext cx="411480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83480" y="121615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04688" y="12161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Improve Contextual Understanding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0" y="16276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AI to grasp multi-page context, section hierarchy, and semantic relationships within documents.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2999232"/>
            <a:ext cx="411480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136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07008" y="3136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Accurate Document-Based Q&amp;A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" y="354787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precise, verifiable answers with page citations, reducing hallucination in LLM responses.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846320" y="2999232"/>
            <a:ext cx="411480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83480" y="3136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504688" y="3136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User-Friendly Interface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0" y="354787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intuitive web UI for uploading documents, entering queries, and viewing structured results.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51560"/>
            <a:ext cx="1965960" cy="3611880"/>
          </a:xfrm>
          <a:prstGeom prst="rect">
            <a:avLst/>
          </a:prstGeom>
          <a:solidFill>
            <a:srgbClr val="0A1628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051560"/>
            <a:ext cx="19659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4590288"/>
            <a:ext cx="19659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48640" y="1874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188720" y="2286000"/>
            <a:ext cx="6858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423160"/>
            <a:ext cx="175564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AI-driven Q&amp;A for research papers, study materials, and academic content — saves hours of manual reading.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97480" y="1051560"/>
            <a:ext cx="1965960" cy="3611880"/>
          </a:xfrm>
          <a:prstGeom prst="rect">
            <a:avLst/>
          </a:prstGeom>
          <a:solidFill>
            <a:srgbClr val="0A162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97480" y="1051560"/>
            <a:ext cx="19659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97480" y="4590288"/>
            <a:ext cx="19659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9748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2697480" y="1874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337560" y="2286000"/>
            <a:ext cx="685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07208" y="2423160"/>
            <a:ext cx="175564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extract insights from lengthy research papers and journals using intelligent document reasoning.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46320" y="1051560"/>
            <a:ext cx="1965960" cy="3611880"/>
          </a:xfrm>
          <a:prstGeom prst="rect">
            <a:avLst/>
          </a:prstGeom>
          <a:solidFill>
            <a:srgbClr val="0A162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46320" y="1051560"/>
            <a:ext cx="1965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46320" y="4590288"/>
            <a:ext cx="1965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4846320" y="1874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0" y="2286000"/>
            <a:ext cx="6858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56048" y="2423160"/>
            <a:ext cx="175564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open-source APIs and project architecture to build AI-powered document tools and integrations.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995160" y="1051560"/>
            <a:ext cx="1965960" cy="3611880"/>
          </a:xfrm>
          <a:prstGeom prst="rect">
            <a:avLst/>
          </a:prstGeom>
          <a:solidFill>
            <a:srgbClr val="0A162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995160" y="1051560"/>
            <a:ext cx="1965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95160" y="4590288"/>
            <a:ext cx="1965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9516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6995160" y="1874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635240" y="2286000"/>
            <a:ext cx="685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04888" y="2423160"/>
            <a:ext cx="175564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internal document queries — HR policies, legal contracts, technical manuals — improving efficiency.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05840"/>
            <a:ext cx="1965960" cy="3767328"/>
          </a:xfrm>
          <a:prstGeom prst="rect">
            <a:avLst/>
          </a:prstGeom>
          <a:solidFill>
            <a:srgbClr val="0A162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005840"/>
            <a:ext cx="19659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005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Frontend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3232" y="162763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62763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" y="235915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35915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3232" y="309067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09067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3232" y="382219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82219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697480" y="1005840"/>
            <a:ext cx="1965960" cy="3767328"/>
          </a:xfrm>
          <a:prstGeom prst="rect">
            <a:avLst/>
          </a:prstGeom>
          <a:solidFill>
            <a:srgbClr val="0A16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97480" y="1005840"/>
            <a:ext cx="19659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7480" y="1005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862072" y="162763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62072" y="162763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862072" y="235915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862072" y="235915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FastAPI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862072" y="309067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62072" y="309067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862072" y="382219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62072" y="382219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Handling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846320" y="1005840"/>
            <a:ext cx="1965960" cy="3767328"/>
          </a:xfrm>
          <a:prstGeom prst="rect">
            <a:avLst/>
          </a:prstGeom>
          <a:solidFill>
            <a:srgbClr val="0A162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846320" y="1005840"/>
            <a:ext cx="19659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0" y="1005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/ APIs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010912" y="162763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10912" y="162763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 API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010912" y="235915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10912" y="235915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API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010912" y="309067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10912" y="309067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010912" y="382219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10912" y="382219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1005840"/>
            <a:ext cx="1965960" cy="3767328"/>
          </a:xfrm>
          <a:prstGeom prst="rect">
            <a:avLst/>
          </a:prstGeom>
          <a:solidFill>
            <a:srgbClr val="0A162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995160" y="1005840"/>
            <a:ext cx="1965960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95160" y="1005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Dev &amp; Deploy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7159752" y="162763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59752" y="162763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(Version Ctrl)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159752" y="235915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159752" y="235915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(Hosting)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159752" y="309067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159752" y="309067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7159752" y="3822192"/>
            <a:ext cx="1636776" cy="530352"/>
          </a:xfrm>
          <a:prstGeom prst="rect">
            <a:avLst/>
          </a:prstGeom>
          <a:solidFill>
            <a:srgbClr val="13204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159752" y="3822192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(API Testing)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6204" y="0"/>
            <a:ext cx="8732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Used  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24128"/>
            <a:ext cx="80467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024128"/>
            <a:ext cx="7955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 Development Prompts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481328"/>
            <a:ext cx="7863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Flask web app that allows users to upload PDF documents and ask </a:t>
            </a:r>
            <a:r>
              <a:rPr lang="en-US" sz="1100" i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questions. The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should extract text from PDFs, split it into sections, find relevant sections using AI</a:t>
            </a:r>
            <a:r>
              <a:rPr lang="en-US" sz="1100" i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generate answers with reasoning. Include file upload, question input, and result display.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/>
              <a:t>Create a function to split extracted PDF text into logical </a:t>
            </a:r>
            <a:r>
              <a:rPr lang="en-US" sz="1100" dirty="0" smtClean="0"/>
              <a:t>sections, detecting </a:t>
            </a:r>
            <a:r>
              <a:rPr lang="en-US" sz="1100" dirty="0"/>
              <a:t>headers for SEC forms and financial documents, with fallback chunking if needed.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/>
              <a:t>Create Python functions to extract text from PDF files using </a:t>
            </a:r>
            <a:r>
              <a:rPr lang="en-US" sz="1100" dirty="0" err="1" smtClean="0"/>
              <a:t>pdfplumber</a:t>
            </a:r>
            <a:r>
              <a:rPr lang="en-US" sz="1100" dirty="0" smtClean="0"/>
              <a:t>, store </a:t>
            </a:r>
            <a:r>
              <a:rPr lang="en-US" sz="1100" dirty="0"/>
              <a:t>extracted text to files, load text from files, and manage text storage cleanup.</a:t>
            </a:r>
          </a:p>
        </p:txBody>
      </p:sp>
      <p:sp>
        <p:nvSpPr>
          <p:cNvPr id="9" name="Shape 6"/>
          <p:cNvSpPr/>
          <p:nvPr/>
        </p:nvSpPr>
        <p:spPr>
          <a:xfrm>
            <a:off x="548640" y="2999232"/>
            <a:ext cx="80467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999232"/>
            <a:ext cx="7955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Integration Prompts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456432"/>
            <a:ext cx="78638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  <a:buSzPct val="100000"/>
            </a:pPr>
            <a:endParaRPr lang="en-US" sz="1150" dirty="0"/>
          </a:p>
        </p:txBody>
      </p:sp>
      <p:sp>
        <p:nvSpPr>
          <p:cNvPr id="13" name="Rectangle 12"/>
          <p:cNvSpPr/>
          <p:nvPr/>
        </p:nvSpPr>
        <p:spPr>
          <a:xfrm>
            <a:off x="855781" y="3540372"/>
            <a:ext cx="781929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Prompt sent to the NVIDIA </a:t>
            </a:r>
            <a:r>
              <a:rPr lang="en-US" sz="1100" dirty="0" err="1"/>
              <a:t>OpenAI</a:t>
            </a:r>
            <a:r>
              <a:rPr lang="en-US" sz="1100" dirty="0"/>
              <a:t>-compatible API to choose the most relevant sections</a:t>
            </a:r>
            <a:r>
              <a:rPr lang="en-US" sz="1100" dirty="0" smtClean="0"/>
              <a:t>. The </a:t>
            </a:r>
            <a:r>
              <a:rPr lang="en-US" sz="1100" dirty="0"/>
              <a:t>model should read the question, review the listed document sections, and </a:t>
            </a:r>
            <a:r>
              <a:rPr lang="en-US" sz="1100" dirty="0" smtClean="0"/>
              <a:t>return. the </a:t>
            </a:r>
            <a:r>
              <a:rPr lang="en-US" sz="1100" dirty="0"/>
              <a:t>titles of the sections that are most useful for answering the question.</a:t>
            </a:r>
          </a:p>
          <a:p>
            <a:r>
              <a:rPr lang="en-US" sz="1100" dirty="0"/>
              <a:t>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0"/>
            <a:ext cx="8732520" cy="914400"/>
          </a:xfrm>
          <a:prstGeom prst="rect">
            <a:avLst/>
          </a:prstGeom>
          <a:solidFill>
            <a:srgbClr val="102A52"/>
          </a:solidFill>
          <a:ln w="12700">
            <a:solidFill>
              <a:srgbClr val="102A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9144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"/>
            <a:ext cx="640080" cy="6400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30352" y="1554480"/>
            <a:ext cx="123444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30352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30352" y="19842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Query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764792" y="1943100"/>
            <a:ext cx="20116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920240" y="1869948"/>
            <a:ext cx="45720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2980" y="1170432"/>
            <a:ext cx="329184" cy="329184"/>
          </a:xfrm>
          <a:prstGeom prst="ellipse">
            <a:avLst/>
          </a:prstGeom>
          <a:solidFill>
            <a:srgbClr val="0A1628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965960" y="1554480"/>
            <a:ext cx="12344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965960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965960" y="19842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Text File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200400" y="1943100"/>
            <a:ext cx="20116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355848" y="1869948"/>
            <a:ext cx="45720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418588" y="1170432"/>
            <a:ext cx="329184" cy="329184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418588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401568" y="1554480"/>
            <a:ext cx="12344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401568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PageIndex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401568" y="19842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by Page No.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636008" y="1943100"/>
            <a:ext cx="20116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791456" y="1869948"/>
            <a:ext cx="45720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854196" y="1170432"/>
            <a:ext cx="329184" cy="329184"/>
          </a:xfrm>
          <a:prstGeom prst="ellipse">
            <a:avLst/>
          </a:prstGeom>
          <a:solidFill>
            <a:srgbClr val="0A162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854196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837176" y="1554480"/>
            <a:ext cx="12344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37176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837176" y="19842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071616" y="1943100"/>
            <a:ext cx="20116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227064" y="1869948"/>
            <a:ext cx="45720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289804" y="1170432"/>
            <a:ext cx="329184" cy="329184"/>
          </a:xfrm>
          <a:prstGeom prst="ellipse">
            <a:avLst/>
          </a:prstGeom>
          <a:solidFill>
            <a:srgbClr val="0A162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289804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4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6272784" y="1554480"/>
            <a:ext cx="123444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272784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6272784" y="19842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Response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7507224" y="1943100"/>
            <a:ext cx="20116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662672" y="1869948"/>
            <a:ext cx="45720" cy="14630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725412" y="1170432"/>
            <a:ext cx="329184" cy="329184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725412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5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7708392" y="1554480"/>
            <a:ext cx="12344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708392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7708392" y="19842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+ Cite Page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8161020" y="1170432"/>
            <a:ext cx="329184" cy="329184"/>
          </a:xfrm>
          <a:prstGeom prst="ellipse">
            <a:avLst/>
          </a:prstGeom>
          <a:solidFill>
            <a:srgbClr val="0A16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816102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6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530352" y="2487168"/>
            <a:ext cx="8321040" cy="2468880"/>
          </a:xfrm>
          <a:prstGeom prst="rect">
            <a:avLst/>
          </a:prstGeom>
          <a:solidFill>
            <a:srgbClr val="1320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21792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Workflow Description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713232" y="2944368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User submits a natural language question via the web interface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Document (PDF/TXT) is uploaded and sent to the backend server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PageIndex module processes the document — each page is extracted, cleaned, and assigned a unique index ID with metadata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The AI Model (LLM) receives the query + relevant indexed pages and performs deep contextual reasoning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Answer Generation extracts the precise response with confidence scoring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Output is displayed to the user with the answer, page citation, and relevant excerpts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Screens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05840"/>
            <a:ext cx="4114800" cy="1828800"/>
          </a:xfrm>
          <a:prstGeom prst="rect">
            <a:avLst/>
          </a:prstGeom>
          <a:solidFill>
            <a:srgbClr val="F0F7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005840"/>
            <a:ext cx="41148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 Page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1463040"/>
            <a:ext cx="38404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 &amp; hero section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 Upload | Query | About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CTA button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highlights grid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46320" y="1005840"/>
            <a:ext cx="4114800" cy="1828800"/>
          </a:xfrm>
          <a:prstGeom prst="rect">
            <a:avLst/>
          </a:prstGeom>
          <a:solidFill>
            <a:srgbClr val="F0F7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005840"/>
            <a:ext cx="4114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Upload Page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83480" y="1463040"/>
            <a:ext cx="38404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PDF zone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validation (type/size)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progress indicator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Success/error notification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017520"/>
            <a:ext cx="4114800" cy="1828800"/>
          </a:xfrm>
          <a:prstGeom prst="rect">
            <a:avLst/>
          </a:prstGeom>
          <a:solidFill>
            <a:srgbClr val="F0F7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3017520"/>
            <a:ext cx="4114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017520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Query Interface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85800" y="3474720"/>
            <a:ext cx="38404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 with auto-suggest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button with loading spinner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context selector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queries history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846320" y="3017520"/>
            <a:ext cx="4114800" cy="1828800"/>
          </a:xfrm>
          <a:prstGeom prst="rect">
            <a:avLst/>
          </a:prstGeom>
          <a:solidFill>
            <a:srgbClr val="F0F7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46320" y="3017520"/>
            <a:ext cx="41148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3017520"/>
            <a:ext cx="39319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Results Page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983480" y="3474720"/>
            <a:ext cx="38404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card with confidence %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citation badge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excerpt highlight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&amp; export options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Prompts &amp; Outputs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024128"/>
            <a:ext cx="7955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1719072"/>
            <a:ext cx="3657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3440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663440" y="1719072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538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3794760"/>
            <a:ext cx="3657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63440" y="3538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81" y="1047890"/>
            <a:ext cx="3238501" cy="184149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8878" y="1047890"/>
            <a:ext cx="3627921" cy="23366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781" y="3073068"/>
            <a:ext cx="3657600" cy="18889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71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1005840"/>
            <a:ext cx="2651760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0352" y="1005840"/>
            <a:ext cx="265176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1005840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Tools &amp; Models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7512" y="1572768"/>
            <a:ext cx="2377440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5727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Platform — platform.openai.com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7512" y="2377440"/>
            <a:ext cx="2377440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3774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API — build.nvidia.com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67512" y="3182112"/>
            <a:ext cx="2377440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318211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Documentation — langchain.readthedocs.io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67512" y="3986784"/>
            <a:ext cx="2377440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 — huggingface.co/docs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83280" y="1005840"/>
            <a:ext cx="2651760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83280" y="1005840"/>
            <a:ext cx="265176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0" y="1005840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Documentation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520440" y="1572768"/>
            <a:ext cx="2377440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66160" y="15727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Docs — flask.palletsprojects.com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520440" y="2377440"/>
            <a:ext cx="2377440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66160" y="23774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 Docs — gitbrent.github.io/PptxGenJS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520440" y="3182112"/>
            <a:ext cx="2377440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66160" y="318211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developer.mozilla.org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520440" y="3986784"/>
            <a:ext cx="2377440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66160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Docs — docs.github.com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236208" y="1005840"/>
            <a:ext cx="2651760" cy="3840480"/>
          </a:xfrm>
          <a:prstGeom prst="rect">
            <a:avLst/>
          </a:prstGeom>
          <a:solidFill>
            <a:srgbClr val="F0F7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36208" y="1005840"/>
            <a:ext cx="265176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27648" y="1005840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Websites &amp; Research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373368" y="1572768"/>
            <a:ext cx="2377440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19088" y="15727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— arxiv.org (AI/ML papers)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373368" y="2377440"/>
            <a:ext cx="2377440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19088" y="23774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With Code — paperswithcode.com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373368" y="3182112"/>
            <a:ext cx="2377440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19088" y="318211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Docs — docs.netlify.com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373368" y="3986784"/>
            <a:ext cx="2377440" cy="658368"/>
          </a:xfrm>
          <a:prstGeom prst="rect">
            <a:avLst/>
          </a:prstGeom>
          <a:solidFill>
            <a:srgbClr val="0A1628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19088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Data Science — towardsdatascience.com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48640" y="4754880"/>
            <a:ext cx="8229600" cy="256032"/>
          </a:xfrm>
          <a:prstGeom prst="rect">
            <a:avLst/>
          </a:prstGeom>
          <a:solidFill>
            <a:srgbClr val="102A52"/>
          </a:solidFill>
          <a:ln w="12700">
            <a:solidFill>
              <a:srgbClr val="102A5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4864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DeepReasoner using PageIndex  | 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| AIAC Project  </a:t>
            </a: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00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834</Words>
  <Application>Microsoft Office PowerPoint</Application>
  <PresentationFormat>On-screen Show (16:9)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DeepReasoner using PageIndex</dc:title>
  <dc:subject>PptxGenJS Presentation</dc:subject>
  <dc:creator>PptxGenJS</dc:creator>
  <cp:lastModifiedBy>USER</cp:lastModifiedBy>
  <cp:revision>16</cp:revision>
  <dcterms:created xsi:type="dcterms:W3CDTF">2026-04-17T07:06:17Z</dcterms:created>
  <dcterms:modified xsi:type="dcterms:W3CDTF">2026-04-19T19:53:50Z</dcterms:modified>
</cp:coreProperties>
</file>